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3"/>
  </p:notesMasterIdLst>
  <p:sldIdLst>
    <p:sldId id="256" r:id="rId2"/>
  </p:sldIdLst>
  <p:sldSz cx="30275213" cy="42803763"/>
  <p:notesSz cx="6797675" cy="9926638"/>
  <p:embeddedFontLst>
    <p:embeddedFont>
      <p:font typeface="SpoqaHanSans-Bold" panose="020B0600000101010101" charset="-127"/>
      <p:bold r:id="rId4"/>
    </p:embeddedFont>
    <p:embeddedFont>
      <p:font typeface="SpoqaHanSans-Regular" panose="020B0600000101010101" charset="-127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libri Light" panose="020F0302020204030204" pitchFamily="34" charset="0"/>
      <p:regular r:id="rId10"/>
      <p:italic r:id="rId11"/>
    </p:embeddedFont>
    <p:embeddedFont>
      <p:font typeface="Meiryo" panose="020B0604030504040204" pitchFamily="34" charset="-128"/>
      <p:regular r:id="rId12"/>
      <p:bold r:id="rId13"/>
      <p:italic r:id="rId14"/>
      <p:boldItalic r:id="rId15"/>
    </p:embeddedFont>
    <p:embeddedFont>
      <p:font typeface="맑은 고딕" panose="020B0503020000020004" pitchFamily="50" charset="-127"/>
      <p:regular r:id="rId16"/>
      <p:bold r:id="rId17"/>
    </p:embeddedFont>
    <p:embeddedFont>
      <p:font typeface="맑은 고딕 Semilight" panose="020B0502040204020203" pitchFamily="50" charset="-127"/>
      <p:regular r:id="rId18"/>
    </p:embeddedFont>
    <p:embeddedFont>
      <p:font typeface="함초롬돋움" panose="020B0604000101010101" pitchFamily="50" charset="-127"/>
      <p:regular r:id="rId19"/>
      <p:bold r:id="rId20"/>
    </p:embeddedFont>
  </p:embeddedFontLst>
  <p:defaultTextStyle>
    <a:defPPr>
      <a:defRPr lang="ko-KR"/>
    </a:defPPr>
    <a:lvl1pPr marL="0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6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1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7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3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8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4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60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25" algn="l" defTabSz="3507731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C2C366"/>
    <a:srgbClr val="F1B8B4"/>
    <a:srgbClr val="59C6F1"/>
    <a:srgbClr val="66D2AD"/>
    <a:srgbClr val="E8A2EF"/>
    <a:srgbClr val="A1D9EE"/>
    <a:srgbClr val="F2F2F2"/>
    <a:srgbClr val="9DC3E6"/>
    <a:srgbClr val="065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3992" autoAdjust="0"/>
  </p:normalViewPr>
  <p:slideViewPr>
    <p:cSldViewPr snapToGrid="0">
      <p:cViewPr>
        <p:scale>
          <a:sx n="33" d="100"/>
          <a:sy n="33" d="100"/>
        </p:scale>
        <p:origin x="-2386" y="-44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FCF81-5CEE-4DC8-96B3-A9F9194A26AE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34B3A-D7F0-4F45-86E3-8918F79E7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77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4B3A-D7F0-4F45-86E3-8918F79E748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675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453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59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68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25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04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82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8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93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356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02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06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377CE-5594-4889-AD2E-989F21B0FB07}" type="datetimeFigureOut">
              <a:rPr lang="ko-KR" altLang="en-US" smtClean="0"/>
              <a:t>2019-09-25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25610-0692-4277-AB25-AD2224203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58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CA95C8-D1A1-4A67-A60C-C8A638A5A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528" y="26359576"/>
            <a:ext cx="10872931" cy="709404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50565" y="6623254"/>
            <a:ext cx="14229058" cy="82583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" name="Text Box 671"/>
          <p:cNvSpPr txBox="1">
            <a:spLocks noChangeArrowheads="1"/>
          </p:cNvSpPr>
          <p:nvPr/>
        </p:nvSpPr>
        <p:spPr bwMode="auto">
          <a:xfrm>
            <a:off x="545490" y="6625476"/>
            <a:ext cx="14249359" cy="707692"/>
          </a:xfrm>
          <a:prstGeom prst="rect">
            <a:avLst/>
          </a:prstGeom>
          <a:solidFill>
            <a:srgbClr val="06529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67" tIns="45624" rIns="91267" bIns="45624">
            <a:spAutoFit/>
          </a:bodyPr>
          <a:lstStyle/>
          <a:p>
            <a:pPr marR="0" lvl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4000" kern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1. Introduction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poqaHanSans-Bold" panose="020B0800000000000000" pitchFamily="50" charset="-127"/>
              <a:ea typeface="SpoqaHanSans-Bold" panose="020B0800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60324" y="624963"/>
            <a:ext cx="29179532" cy="5688899"/>
          </a:xfrm>
          <a:prstGeom prst="rect">
            <a:avLst/>
          </a:prstGeom>
          <a:noFill/>
          <a:ln>
            <a:solidFill>
              <a:srgbClr val="065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55640" y="1556688"/>
            <a:ext cx="29188900" cy="4673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43" tIns="45614" rIns="91243" bIns="45614"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sz="6600" b="1" dirty="0">
                <a:solidFill>
                  <a:srgbClr val="34536F"/>
                </a:solidFill>
                <a:latin typeface="+mj-ea"/>
                <a:ea typeface="+mj-ea"/>
                <a:cs typeface="함초롬돋움" panose="020B0604000101010101" pitchFamily="50" charset="-127"/>
              </a:rPr>
              <a:t>서울시 공공자전거 대여이력정보를 이용한 대여 유형별 이용특성 연구</a:t>
            </a:r>
            <a:endParaRPr lang="en-US" altLang="ko-KR" sz="6600" b="1" dirty="0">
              <a:solidFill>
                <a:srgbClr val="34536F"/>
              </a:solidFill>
              <a:latin typeface="+mj-ea"/>
              <a:ea typeface="+mj-ea"/>
              <a:cs typeface="함초롬돋움" panose="020B0604000101010101" pitchFamily="50" charset="-127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ko-KR" sz="5400" b="1" dirty="0">
                <a:solidFill>
                  <a:srgbClr val="34536F"/>
                </a:solidFill>
                <a:latin typeface="+mj-ea"/>
                <a:ea typeface="+mj-ea"/>
                <a:cs typeface="함초롬돋움" panose="020B0604000101010101" pitchFamily="50" charset="-127"/>
              </a:rPr>
              <a:t>A Study on Usage Characteristics of Rental Types by Using Rental History Data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ko-KR" sz="5400" b="1" dirty="0">
                <a:solidFill>
                  <a:srgbClr val="34536F"/>
                </a:solidFill>
                <a:latin typeface="+mj-ea"/>
                <a:ea typeface="+mj-ea"/>
                <a:cs typeface="함초롬돋움" panose="020B0604000101010101" pitchFamily="50" charset="-127"/>
              </a:rPr>
              <a:t> of Public Bicycles in Seoul 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함초롬돋움" panose="020B0604000101010101" pitchFamily="50" charset="-127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  <a:cs typeface="함초롬돋움" panose="020B0604000101010101" pitchFamily="50" charset="-127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정종우</a:t>
            </a:r>
            <a:r>
              <a:rPr lang="en-US" altLang="ko-KR" sz="36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1)</a:t>
            </a:r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,  </a:t>
            </a:r>
            <a:r>
              <a:rPr lang="ko-KR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이재현</a:t>
            </a:r>
            <a:r>
              <a:rPr lang="en-US" altLang="ko-KR" sz="36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2)</a:t>
            </a:r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모대상</a:t>
            </a:r>
            <a:r>
              <a:rPr lang="en-US" altLang="ko-KR" sz="36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2)</a:t>
            </a:r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이청원</a:t>
            </a:r>
            <a:r>
              <a:rPr lang="en-US" altLang="ko-KR" sz="36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3)</a:t>
            </a:r>
            <a:endParaRPr lang="en-US" altLang="ko-KR" sz="3600" dirty="0">
              <a:solidFill>
                <a:schemeClr val="tx1">
                  <a:lumMod val="65000"/>
                  <a:lumOff val="35000"/>
                </a:schemeClr>
              </a:solidFill>
              <a:latin typeface="SpoqaHanSans-Regular" panose="020B0500000000000000" pitchFamily="50" charset="-127"/>
              <a:ea typeface="SpoqaHanSans-Regular" panose="020B0500000000000000" pitchFamily="50" charset="-127"/>
              <a:cs typeface="Arial" panose="020B0604020202020204" pitchFamily="34" charset="0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ko-KR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함초롬돋움" panose="020B0604000101010101" pitchFamily="50" charset="-127"/>
              </a:rPr>
              <a:t>1) </a:t>
            </a:r>
            <a:r>
              <a: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함초롬돋움" panose="020B0604000101010101" pitchFamily="50" charset="-127"/>
              </a:rPr>
              <a:t>서울대학교 건설환경공학부 석사과정</a:t>
            </a:r>
            <a:r>
              <a:rPr lang="en-US" altLang="ko-KR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함초롬돋움" panose="020B0604000101010101" pitchFamily="50" charset="-127"/>
              </a:rPr>
              <a:t>, 2) </a:t>
            </a:r>
            <a:r>
              <a: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함초롬돋움" panose="020B0604000101010101" pitchFamily="50" charset="-127"/>
              </a:rPr>
              <a:t>서울대학교 건설환경공학부 석박사통합과정</a:t>
            </a:r>
            <a:r>
              <a:rPr lang="en-US" altLang="ko-KR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함초롬돋움" panose="020B0604000101010101" pitchFamily="50" charset="-127"/>
              </a:rPr>
              <a:t>, 3) </a:t>
            </a:r>
            <a:r>
              <a: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  <a:cs typeface="함초롬돋움" panose="020B0604000101010101" pitchFamily="50" charset="-127"/>
              </a:rPr>
              <a:t>서울대학교 건설환경공학부 교수</a:t>
            </a:r>
            <a:endParaRPr lang="en-US" altLang="ko-KR" sz="3200" dirty="0">
              <a:solidFill>
                <a:schemeClr val="tx1">
                  <a:lumMod val="65000"/>
                  <a:lumOff val="35000"/>
                </a:schemeClr>
              </a:solidFill>
              <a:latin typeface="SpoqaHanSans-Regular" panose="020B0500000000000000" pitchFamily="50" charset="-127"/>
              <a:ea typeface="SpoqaHanSans-Regular" panose="020B0500000000000000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7" t="36668" r="29817" b="31571"/>
          <a:stretch/>
        </p:blipFill>
        <p:spPr>
          <a:xfrm>
            <a:off x="27076400" y="3611432"/>
            <a:ext cx="2463661" cy="2555268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545490" y="15082189"/>
            <a:ext cx="14229058" cy="9532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7" name="Text Box 671"/>
          <p:cNvSpPr txBox="1">
            <a:spLocks noChangeArrowheads="1"/>
          </p:cNvSpPr>
          <p:nvPr/>
        </p:nvSpPr>
        <p:spPr bwMode="auto">
          <a:xfrm>
            <a:off x="560325" y="15101326"/>
            <a:ext cx="14216762" cy="713368"/>
          </a:xfrm>
          <a:prstGeom prst="rect">
            <a:avLst/>
          </a:prstGeom>
          <a:solidFill>
            <a:srgbClr val="06529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67" tIns="45624" rIns="91267" bIns="45624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kern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2</a:t>
            </a:r>
            <a:r>
              <a:rPr kumimoji="0" lang="en-US" sz="400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. </a:t>
            </a:r>
            <a:r>
              <a:rPr lang="en-US" sz="4000" kern="0" noProof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Literature Reviews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poqaHanSans-Bold" panose="020B0800000000000000" pitchFamily="50" charset="-127"/>
              <a:ea typeface="SpoqaHanSans-Bold" panose="020B0800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45490" y="24815432"/>
            <a:ext cx="14229058" cy="17598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37" name="Text Box 671"/>
          <p:cNvSpPr txBox="1">
            <a:spLocks noChangeArrowheads="1"/>
          </p:cNvSpPr>
          <p:nvPr/>
        </p:nvSpPr>
        <p:spPr bwMode="auto">
          <a:xfrm>
            <a:off x="555640" y="24836122"/>
            <a:ext cx="14239209" cy="708197"/>
          </a:xfrm>
          <a:prstGeom prst="rect">
            <a:avLst/>
          </a:prstGeom>
          <a:solidFill>
            <a:srgbClr val="06529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67" tIns="45624" rIns="91267" bIns="45624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kern="0" noProof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3</a:t>
            </a:r>
            <a:r>
              <a:rPr kumimoji="0" lang="en-US" sz="400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. </a:t>
            </a:r>
            <a:r>
              <a:rPr lang="en-US" altLang="ko-KR" sz="4000" kern="0" noProof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Methodology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poqaHanSans-Bold" panose="020B0800000000000000" pitchFamily="50" charset="-127"/>
              <a:ea typeface="SpoqaHanSans-Bold" panose="020B0800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5500925" y="6623251"/>
            <a:ext cx="14229058" cy="22872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30" name="Text Box 671"/>
          <p:cNvSpPr txBox="1">
            <a:spLocks noChangeArrowheads="1"/>
          </p:cNvSpPr>
          <p:nvPr/>
        </p:nvSpPr>
        <p:spPr bwMode="auto">
          <a:xfrm>
            <a:off x="15506000" y="6625476"/>
            <a:ext cx="14229058" cy="707692"/>
          </a:xfrm>
          <a:prstGeom prst="rect">
            <a:avLst/>
          </a:prstGeom>
          <a:solidFill>
            <a:srgbClr val="06529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67" tIns="45624" rIns="91267" bIns="45624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kern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4</a:t>
            </a:r>
            <a:r>
              <a:rPr kumimoji="0" lang="en-US" sz="400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. </a:t>
            </a:r>
            <a:r>
              <a:rPr lang="en-US" sz="4000" kern="0" noProof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Results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poqaHanSans-Bold" panose="020B0800000000000000" pitchFamily="50" charset="-127"/>
              <a:ea typeface="SpoqaHanSans-Bold" panose="020B0800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5500925" y="29618094"/>
            <a:ext cx="14229058" cy="74838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39" name="Text Box 671"/>
          <p:cNvSpPr txBox="1">
            <a:spLocks noChangeArrowheads="1"/>
          </p:cNvSpPr>
          <p:nvPr/>
        </p:nvSpPr>
        <p:spPr bwMode="auto">
          <a:xfrm>
            <a:off x="15520948" y="29618095"/>
            <a:ext cx="14229058" cy="707692"/>
          </a:xfrm>
          <a:prstGeom prst="rect">
            <a:avLst/>
          </a:prstGeom>
          <a:solidFill>
            <a:srgbClr val="06529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67" tIns="45624" rIns="91267" bIns="45624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kern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5</a:t>
            </a:r>
            <a:r>
              <a:rPr kumimoji="0" lang="en-US" sz="400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. </a:t>
            </a:r>
            <a:r>
              <a:rPr lang="en-US" sz="4000" kern="0" noProof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Conclusions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poqaHanSans-Bold" panose="020B0800000000000000" pitchFamily="50" charset="-127"/>
              <a:ea typeface="SpoqaHanSans-Bold" panose="020B0800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5495850" y="37283938"/>
            <a:ext cx="14229058" cy="32930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2" name="Text Box 671"/>
          <p:cNvSpPr txBox="1">
            <a:spLocks noChangeArrowheads="1"/>
          </p:cNvSpPr>
          <p:nvPr/>
        </p:nvSpPr>
        <p:spPr bwMode="auto">
          <a:xfrm>
            <a:off x="15520948" y="37283936"/>
            <a:ext cx="14229058" cy="707692"/>
          </a:xfrm>
          <a:prstGeom prst="rect">
            <a:avLst/>
          </a:prstGeom>
          <a:solidFill>
            <a:srgbClr val="06529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67" tIns="45624" rIns="91267" bIns="45624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kern="0" noProof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6</a:t>
            </a:r>
            <a:r>
              <a:rPr kumimoji="0" lang="en-US" sz="400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. </a:t>
            </a:r>
            <a:r>
              <a:rPr lang="en-US" sz="4000" kern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References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poqaHanSans-Bold" panose="020B0800000000000000" pitchFamily="50" charset="-127"/>
              <a:ea typeface="SpoqaHanSans-Bold" panose="020B0800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5520948" y="40758970"/>
            <a:ext cx="14229058" cy="1655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" panose="020B0604030504040204" pitchFamily="34" charset="-128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4" name="Text Box 671"/>
          <p:cNvSpPr txBox="1">
            <a:spLocks noChangeArrowheads="1"/>
          </p:cNvSpPr>
          <p:nvPr/>
        </p:nvSpPr>
        <p:spPr bwMode="auto">
          <a:xfrm>
            <a:off x="15520948" y="40774164"/>
            <a:ext cx="14229058" cy="707692"/>
          </a:xfrm>
          <a:prstGeom prst="rect">
            <a:avLst/>
          </a:prstGeom>
          <a:solidFill>
            <a:srgbClr val="06529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267" tIns="45624" rIns="91267" bIns="45624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kern="0" dirty="0">
                <a:solidFill>
                  <a:srgbClr val="F8F8F8"/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함초롬돋움" panose="020B0604000101010101" pitchFamily="50" charset="-127"/>
              </a:rPr>
              <a:t>Acknowledgement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poqaHanSans-Bold" panose="020B0800000000000000" pitchFamily="50" charset="-127"/>
              <a:ea typeface="SpoqaHanSans-Bold" panose="020B0800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0452" y="7338354"/>
            <a:ext cx="13866634" cy="518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Backgrounds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대중교통 이용 시 접근성 문제를 보완 또는 대체할 수 있는 교통수단으로 공공자전거의 가능성을 주목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공공자전거는 시내 주요 지점에 설치된 스테이션으로부터 자전거를 빌려 일정시간 이용 후 반납하는 형태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서울시 공공자전거는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‘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누구나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언제나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어디서나 쉽게 편리하게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’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이용할 수 있는 자전거 무인대여 시스템으로 서울시의 교통체증과 대기오염 문제를 해결하고자 도입된 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452" y="12543383"/>
            <a:ext cx="13866634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Objectives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본 연구는 서울시 공공자전거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따릉이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대여이력 자료를 활용하여 대여 유형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Round&amp;One-way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따른 이용특성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452" y="15833832"/>
            <a:ext cx="13866634" cy="340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Contributions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기존 연구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공공자전거 이용에 영향을 미치는 물리적 환경 요인 혹은 인적 요인에 관한 연구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본 연구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대여 유형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Round&amp;One-way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따른 도심 내 공공자전거 이용특성에 대한 연구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87515"/>
              </p:ext>
            </p:extLst>
          </p:nvPr>
        </p:nvGraphicFramePr>
        <p:xfrm>
          <a:off x="659564" y="19451976"/>
          <a:ext cx="14031360" cy="4953572"/>
        </p:xfrm>
        <a:graphic>
          <a:graphicData uri="http://schemas.openxmlformats.org/drawingml/2006/table">
            <a:tbl>
              <a:tblPr/>
              <a:tblGrid>
                <a:gridCol w="2032317">
                  <a:extLst>
                    <a:ext uri="{9D8B030D-6E8A-4147-A177-3AD203B41FA5}">
                      <a16:colId xmlns:a16="http://schemas.microsoft.com/office/drawing/2014/main" val="3135082549"/>
                    </a:ext>
                  </a:extLst>
                </a:gridCol>
                <a:gridCol w="6752492">
                  <a:extLst>
                    <a:ext uri="{9D8B030D-6E8A-4147-A177-3AD203B41FA5}">
                      <a16:colId xmlns:a16="http://schemas.microsoft.com/office/drawing/2014/main" val="323511004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58235814"/>
                    </a:ext>
                  </a:extLst>
                </a:gridCol>
                <a:gridCol w="2503351">
                  <a:extLst>
                    <a:ext uri="{9D8B030D-6E8A-4147-A177-3AD203B41FA5}">
                      <a16:colId xmlns:a16="http://schemas.microsoft.com/office/drawing/2014/main" val="1140532046"/>
                    </a:ext>
                  </a:extLst>
                </a:gridCol>
              </a:tblGrid>
              <a:tr h="5747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저자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연구목적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800" b="1" kern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방법론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92471"/>
                  </a:ext>
                </a:extLst>
              </a:tr>
              <a:tr h="1204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Paul DeMaio</a:t>
                      </a:r>
                    </a:p>
                    <a:p>
                      <a:pPr algn="ctr" latinLnBrk="1"/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(2009)</a:t>
                      </a:r>
                      <a:endParaRPr lang="ko-KR" altLang="en-US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Bike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Sharing: History, Impacts, Models of Provision and Future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Cycling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population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Transit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Green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house gases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Public health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Descriptive statistics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705914"/>
                  </a:ext>
                </a:extLst>
              </a:tr>
              <a:tr h="9243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Juan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Carlos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(2012)</a:t>
                      </a:r>
                      <a:endParaRPr lang="ko-KR" altLang="en-US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Optimizing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the location of stations in bike sharing programs: A GIS approach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Population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Activities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Public transport N/W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Descriptive statistics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GIS</a:t>
                      </a:r>
                      <a:r>
                        <a:rPr lang="en-US" altLang="ko-KR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based Method</a:t>
                      </a:r>
                      <a:endParaRPr lang="en-US" altLang="ko-KR" sz="2000" b="0" i="0" kern="1200" dirty="0">
                        <a:solidFill>
                          <a:schemeClr val="dk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Regression model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56922"/>
                  </a:ext>
                </a:extLst>
              </a:tr>
              <a:tr h="924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Robyn Dowling</a:t>
                      </a:r>
                    </a:p>
                    <a:p>
                      <a:pPr algn="ctr" latinLnBrk="1"/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(2015)</a:t>
                      </a:r>
                      <a:endParaRPr lang="ko-KR" altLang="en-US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Modeling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Bike share station activity: Effects of Nearby Business and Jobs on Trips to and from stations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Built</a:t>
                      </a: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environment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Transportation infrastructure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Descriptive statistics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Regression model</a:t>
                      </a:r>
                      <a:endParaRPr lang="en-US" altLang="ko-KR" sz="2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481800"/>
                  </a:ext>
                </a:extLst>
              </a:tr>
              <a:tr h="92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연구</a:t>
                      </a:r>
                      <a:endParaRPr lang="en-US" altLang="ko-KR" sz="2000" b="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(2019)</a:t>
                      </a:r>
                      <a:endParaRPr lang="ko-KR" altLang="en-US" sz="2000" b="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대여 유형에 따른 도심 내 공공자전거 이용 특성에 대한 연구</a:t>
                      </a:r>
                      <a:endParaRPr lang="en-US" altLang="ko-KR" sz="2000" b="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대여이력 정보</a:t>
                      </a:r>
                      <a:endParaRPr lang="en-US" altLang="ko-KR" sz="2000" b="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지하철역까지 거리</a:t>
                      </a:r>
                      <a:endParaRPr lang="en-US" altLang="ko-KR" sz="2000" b="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대여</a:t>
                      </a:r>
                      <a:r>
                        <a:rPr lang="en-US" altLang="ko-KR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반납 방식</a:t>
                      </a:r>
                      <a:endParaRPr lang="en-US" altLang="ko-KR" sz="2000" b="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Descriptive</a:t>
                      </a:r>
                      <a:r>
                        <a:rPr lang="en-US" altLang="ko-KR" sz="2000" b="0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statistics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Regression model</a:t>
                      </a:r>
                      <a:endParaRPr lang="en-US" altLang="ko-KR" sz="2000" b="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938979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05377" y="33453621"/>
            <a:ext cx="13866634" cy="2818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Problem Definition &amp; Solution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 trip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47,688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건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(81%), One-way trip 11,068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건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(19%)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불균형 존재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불균형 처리 방법으로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SMOTE(Synthetic Minority Oversampling Technique)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알고리즘 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302" y="36296044"/>
            <a:ext cx="13866634" cy="2228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SMOTE Algorithm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오버샘플링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기법 중 합성데이터를 생성하는 방식으로 사용되고 있는 모델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다수 클래스를 샘플링하고 기존 소수 샘플을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보간하여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소수 인스턴스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858274" y="7332591"/>
            <a:ext cx="13866634" cy="2818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Descriptive</a:t>
            </a:r>
            <a:r>
              <a:rPr lang="ko-KR" altLang="en-US" sz="4400" b="1" u="sng" dirty="0"/>
              <a:t> </a:t>
            </a:r>
            <a:r>
              <a:rPr lang="en-US" altLang="ko-KR" sz="4400" b="1" u="sng" dirty="0"/>
              <a:t>Statistics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대여이력 정보 상위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경로 분석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(Round 14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건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One-way 6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건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 Trip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오전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첨두에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수요가 집중됨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주말 대비 주중 수요가 높음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One-way Trip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오후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첨두에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수요가 집중됨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주중 대비 주말에 수요가 높음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5880962" y="30312283"/>
            <a:ext cx="13866634" cy="340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Conclusions</a:t>
            </a:r>
          </a:p>
          <a:p>
            <a:pPr>
              <a:lnSpc>
                <a:spcPct val="120000"/>
              </a:lnSpc>
            </a:pPr>
            <a:endParaRPr lang="en-US" altLang="ko-KR" sz="1000" b="1" u="sng" dirty="0"/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대여 유형을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Round/One-way Trip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보았으며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주말 오후는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 Trip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유형이 많고 주중 출퇴근 시간대는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One-way Trip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유형이 대다수를 차지 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지하철역까지의 거리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이용시간은 대여 유형에 유의한 영향을 주지 않았으며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주중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주말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첨두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비첨두가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대여 유형에 영향을 줌을 알 수 있음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5858272" y="33653212"/>
            <a:ext cx="13866634" cy="3395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Further Studies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자전거 대여소 주변의 사회경제적 변수 추가를 통한 이용특성 확인 필요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주중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주말에 따른 공공자전거 이용패턴이 일반 대중교통의 패턴과 유사하다는 점을 볼 때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향후 다른 수단과 공공자전거의 비교분석이 가능한지 확인 필요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520947" y="37991628"/>
            <a:ext cx="142039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</a:rPr>
              <a:t>Midgley, P. (2009). The role of smart bike-sharing systems in urban mobility. </a:t>
            </a:r>
            <a:r>
              <a:rPr lang="en-US" altLang="ko-KR" sz="1800" i="1" dirty="0">
                <a:latin typeface="+mn-ea"/>
              </a:rPr>
              <a:t>Journeys</a:t>
            </a:r>
            <a:r>
              <a:rPr lang="en-US" altLang="ko-KR" sz="1800" dirty="0">
                <a:latin typeface="+mn-ea"/>
              </a:rPr>
              <a:t>, </a:t>
            </a:r>
            <a:r>
              <a:rPr lang="en-US" altLang="ko-KR" sz="1800" i="1" dirty="0">
                <a:latin typeface="+mn-ea"/>
              </a:rPr>
              <a:t>2</a:t>
            </a:r>
            <a:r>
              <a:rPr lang="en-US" altLang="ko-KR" sz="1800" dirty="0">
                <a:latin typeface="+mn-ea"/>
              </a:rPr>
              <a:t>(1), 23-31.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</a:rPr>
              <a:t>DeMaio, P. (2009). Bike-sharing: History, impacts, models of provision, and future. </a:t>
            </a:r>
            <a:r>
              <a:rPr lang="en-US" altLang="ko-KR" sz="1800" i="1" dirty="0">
                <a:latin typeface="+mn-ea"/>
              </a:rPr>
              <a:t>Journal of public transportation</a:t>
            </a:r>
            <a:r>
              <a:rPr lang="en-US" altLang="ko-KR" sz="1800" dirty="0">
                <a:latin typeface="+mn-ea"/>
              </a:rPr>
              <a:t>, </a:t>
            </a:r>
            <a:r>
              <a:rPr lang="en-US" altLang="ko-KR" sz="1800" i="1" dirty="0">
                <a:latin typeface="+mn-ea"/>
              </a:rPr>
              <a:t>12</a:t>
            </a:r>
            <a:r>
              <a:rPr lang="en-US" altLang="ko-KR" sz="1800" dirty="0">
                <a:latin typeface="+mn-ea"/>
              </a:rPr>
              <a:t>(4), 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</a:rPr>
              <a:t>García-</a:t>
            </a:r>
            <a:r>
              <a:rPr lang="en-US" altLang="ko-KR" sz="1800" dirty="0" err="1">
                <a:latin typeface="+mn-ea"/>
              </a:rPr>
              <a:t>Palomares</a:t>
            </a:r>
            <a:r>
              <a:rPr lang="en-US" altLang="ko-KR" sz="1800" dirty="0">
                <a:latin typeface="+mn-ea"/>
              </a:rPr>
              <a:t>, J. C., Gutiérrez, J., &amp; </a:t>
            </a:r>
            <a:r>
              <a:rPr lang="en-US" altLang="ko-KR" sz="1800" dirty="0" err="1">
                <a:latin typeface="+mn-ea"/>
              </a:rPr>
              <a:t>Latorre</a:t>
            </a:r>
            <a:r>
              <a:rPr lang="en-US" altLang="ko-KR" sz="1800" dirty="0">
                <a:latin typeface="+mn-ea"/>
              </a:rPr>
              <a:t>, M. (2012). Optimizing the location of stations in bike-sharing programs: A GIS approach. </a:t>
            </a:r>
            <a:r>
              <a:rPr lang="en-US" altLang="ko-KR" sz="1800" i="1" dirty="0">
                <a:latin typeface="+mn-ea"/>
              </a:rPr>
              <a:t>Applied Geography</a:t>
            </a:r>
            <a:r>
              <a:rPr lang="en-US" altLang="ko-KR" sz="1800" dirty="0">
                <a:latin typeface="+mn-ea"/>
              </a:rPr>
              <a:t>, </a:t>
            </a:r>
            <a:r>
              <a:rPr lang="en-US" altLang="ko-KR" sz="1800" i="1" dirty="0">
                <a:latin typeface="+mn-ea"/>
              </a:rPr>
              <a:t>35</a:t>
            </a:r>
            <a:r>
              <a:rPr lang="en-US" altLang="ko-KR" sz="1800" dirty="0">
                <a:latin typeface="+mn-ea"/>
              </a:rPr>
              <a:t>(1-2), 235-246.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</a:rPr>
              <a:t>Wang, X., Lindsey, G., </a:t>
            </a:r>
            <a:r>
              <a:rPr lang="en-US" altLang="ko-KR" sz="1800" dirty="0" err="1">
                <a:latin typeface="+mn-ea"/>
              </a:rPr>
              <a:t>Schoner</a:t>
            </a:r>
            <a:r>
              <a:rPr lang="en-US" altLang="ko-KR" sz="1800" dirty="0">
                <a:latin typeface="+mn-ea"/>
              </a:rPr>
              <a:t>, J. E., &amp; Harrison, A. (2015). Modeling bike share station activity: Effects of nearby businesses and jobs on trips to and from stations. </a:t>
            </a:r>
            <a:r>
              <a:rPr lang="en-US" altLang="ko-KR" sz="1800" i="1" dirty="0">
                <a:latin typeface="+mn-ea"/>
              </a:rPr>
              <a:t>Journal of Urban Planning and Development</a:t>
            </a:r>
            <a:r>
              <a:rPr lang="en-US" altLang="ko-KR" sz="1800" dirty="0">
                <a:latin typeface="+mn-ea"/>
              </a:rPr>
              <a:t>, </a:t>
            </a:r>
            <a:r>
              <a:rPr lang="en-US" altLang="ko-KR" sz="1800" i="1" dirty="0">
                <a:latin typeface="+mn-ea"/>
              </a:rPr>
              <a:t>142</a:t>
            </a:r>
            <a:r>
              <a:rPr lang="en-US" altLang="ko-KR" sz="1800" dirty="0">
                <a:latin typeface="+mn-ea"/>
              </a:rPr>
              <a:t>(1), 04015001.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</a:rPr>
              <a:t>Yang, Z., Hu, J., Shu, Y., Cheng, P., Chen, J., &amp; </a:t>
            </a:r>
            <a:r>
              <a:rPr lang="en-US" altLang="ko-KR" sz="1800" dirty="0" err="1">
                <a:latin typeface="+mn-ea"/>
              </a:rPr>
              <a:t>Moscibroda</a:t>
            </a:r>
            <a:r>
              <a:rPr lang="en-US" altLang="ko-KR" sz="1800" dirty="0">
                <a:latin typeface="+mn-ea"/>
              </a:rPr>
              <a:t>, T. (2016, June). Mobility modeling and prediction in bike-sharing systems. In </a:t>
            </a:r>
            <a:r>
              <a:rPr lang="en-US" altLang="ko-KR" sz="1800" i="1" dirty="0">
                <a:latin typeface="+mn-ea"/>
              </a:rPr>
              <a:t>Proceedings of the 14th annual international conference on mobile systems, applications, and services</a:t>
            </a:r>
            <a:r>
              <a:rPr lang="en-US" altLang="ko-KR" sz="1800" dirty="0">
                <a:latin typeface="+mn-ea"/>
              </a:rPr>
              <a:t> (pp. 165-178). ACM.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</a:rPr>
              <a:t>권오현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김명현</a:t>
            </a:r>
            <a:r>
              <a:rPr lang="en-US" altLang="ko-KR" sz="1800" dirty="0">
                <a:latin typeface="+mn-ea"/>
              </a:rPr>
              <a:t>, &amp; </a:t>
            </a:r>
            <a:r>
              <a:rPr lang="ko-KR" altLang="en-US" sz="1800" dirty="0" err="1">
                <a:latin typeface="+mn-ea"/>
              </a:rPr>
              <a:t>이성모</a:t>
            </a:r>
            <a:r>
              <a:rPr lang="en-US" altLang="ko-KR" sz="1800" dirty="0">
                <a:latin typeface="+mn-ea"/>
              </a:rPr>
              <a:t>. (2011). </a:t>
            </a:r>
            <a:r>
              <a:rPr lang="ko-KR" altLang="en-US" sz="1800" dirty="0">
                <a:latin typeface="+mn-ea"/>
              </a:rPr>
              <a:t>공공자전거 네트워크 구축 및 대여소 입지 결정 방법론</a:t>
            </a:r>
            <a:r>
              <a:rPr lang="en-US" altLang="ko-KR" sz="1800" dirty="0">
                <a:latin typeface="+mn-ea"/>
              </a:rPr>
              <a:t>. </a:t>
            </a:r>
            <a:r>
              <a:rPr lang="ko-KR" altLang="en-US" sz="1800" i="1" dirty="0">
                <a:latin typeface="+mn-ea"/>
              </a:rPr>
              <a:t>대한교통학회 학술대회지</a:t>
            </a:r>
            <a:r>
              <a:rPr lang="en-US" altLang="ko-KR" sz="1800" dirty="0">
                <a:latin typeface="+mn-ea"/>
              </a:rPr>
              <a:t>, </a:t>
            </a:r>
            <a:r>
              <a:rPr lang="en-US" altLang="ko-KR" sz="1800" i="1" dirty="0">
                <a:latin typeface="+mn-ea"/>
              </a:rPr>
              <a:t>65</a:t>
            </a:r>
            <a:r>
              <a:rPr lang="en-US" altLang="ko-KR" sz="1800" dirty="0">
                <a:latin typeface="+mn-ea"/>
              </a:rPr>
              <a:t>, 480-484.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15520948" y="41567258"/>
            <a:ext cx="14203959" cy="846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이 논문은 </a:t>
            </a:r>
            <a:r>
              <a:rPr lang="en-US" altLang="ko-KR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2018</a:t>
            </a:r>
            <a:r>
              <a:rPr lang="ko-KR" altLang="en-US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년도 정부</a:t>
            </a:r>
            <a:r>
              <a:rPr lang="en-US" altLang="ko-KR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교육부</a:t>
            </a:r>
            <a:r>
              <a:rPr lang="en-US" altLang="ko-KR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의 재원으로 한국연구재단의 지원을 받아 수행된 연구임</a:t>
            </a:r>
            <a:r>
              <a:rPr lang="en-US" altLang="ko-KR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(No. NRF-2017R1D1A1B03028218). </a:t>
            </a:r>
            <a:r>
              <a:rPr lang="ko-KR" altLang="en-US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서울대학교 공학연구원의 지원에도 감사를 드립니다</a:t>
            </a:r>
            <a:r>
              <a:rPr lang="en-US" altLang="ko-KR" sz="2400" dirty="0"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546A4-7F41-4054-AF26-C8B03FD22F7B}"/>
              </a:ext>
            </a:extLst>
          </p:cNvPr>
          <p:cNvSpPr txBox="1"/>
          <p:nvPr/>
        </p:nvSpPr>
        <p:spPr>
          <a:xfrm>
            <a:off x="905377" y="25542454"/>
            <a:ext cx="13866634" cy="85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Research </a:t>
            </a:r>
            <a:r>
              <a:rPr lang="en-US" altLang="ko-KR" sz="4400" b="1" u="sng" dirty="0" err="1"/>
              <a:t>process&amp;Description</a:t>
            </a:r>
            <a:endParaRPr lang="en-US" altLang="ko-KR" sz="4400" b="1" u="sng" dirty="0"/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F688A07-8FE5-45F3-B7AD-DE56F4B5BEDC}"/>
              </a:ext>
            </a:extLst>
          </p:cNvPr>
          <p:cNvGrpSpPr/>
          <p:nvPr/>
        </p:nvGrpSpPr>
        <p:grpSpPr>
          <a:xfrm>
            <a:off x="1556175" y="38677642"/>
            <a:ext cx="12204182" cy="3508376"/>
            <a:chOff x="668500" y="3333787"/>
            <a:chExt cx="5985016" cy="1720532"/>
          </a:xfrm>
        </p:grpSpPr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9A576F00-0B2C-4B29-9500-EB13F30BA5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9275"/>
            <a:stretch/>
          </p:blipFill>
          <p:spPr>
            <a:xfrm>
              <a:off x="3661008" y="3333787"/>
              <a:ext cx="2992508" cy="1720532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F17432B8-85B7-4751-86BF-3C6E4F61FB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50725"/>
            <a:stretch/>
          </p:blipFill>
          <p:spPr>
            <a:xfrm>
              <a:off x="668500" y="3333787"/>
              <a:ext cx="2992508" cy="1671332"/>
            </a:xfrm>
            <a:prstGeom prst="rect">
              <a:avLst/>
            </a:prstGeom>
          </p:spPr>
        </p:pic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B5482E9C-AA03-4C85-8C64-096E12E05CA3}"/>
              </a:ext>
            </a:extLst>
          </p:cNvPr>
          <p:cNvSpPr txBox="1"/>
          <p:nvPr/>
        </p:nvSpPr>
        <p:spPr>
          <a:xfrm>
            <a:off x="15858274" y="16220821"/>
            <a:ext cx="13866634" cy="13275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u="sng" dirty="0"/>
              <a:t>Estimation Results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Data(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데이터의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70%)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Balanced Data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생성을 통해 로지스틱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회귀분석 결과 산출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≈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 경우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지하철역까지 거리를 통해 대여 유형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Round&amp;One-way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의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차이를 확인하기는 힘듦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OR&lt;1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 경우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이용시간이 증가함에 따라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One-way Trip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확률이 감소하며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주중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비첨두시에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가까울수록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One-way Trip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확률이 증가함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즉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주중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주말 이용률과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첨두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비첨두시에는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상관성이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존재하며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지하철역과의 거리는 유의한 상관성을 갖지 못함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주중에는 주말 대비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One-way Trip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수요가 높은 것으로 추정되며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이는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첨두시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출퇴근을 위한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One-way Trip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때문으로 판단됨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주말은 주중 대비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 Trip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수요가 높은 것으로 추정되며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이는 오후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첨두시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여가 및 운동을 위한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 Trip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때문으로 판단됨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모형에 대한 예측력 척도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AUC(Area Under the ROC Curve)=0.95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확인됨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04A92813-AD72-492E-8AEC-ECC7C101F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401861"/>
              </p:ext>
            </p:extLst>
          </p:nvPr>
        </p:nvGraphicFramePr>
        <p:xfrm>
          <a:off x="15880962" y="18252710"/>
          <a:ext cx="13509030" cy="4655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1806">
                  <a:extLst>
                    <a:ext uri="{9D8B030D-6E8A-4147-A177-3AD203B41FA5}">
                      <a16:colId xmlns:a16="http://schemas.microsoft.com/office/drawing/2014/main" val="193707831"/>
                    </a:ext>
                  </a:extLst>
                </a:gridCol>
                <a:gridCol w="2701806">
                  <a:extLst>
                    <a:ext uri="{9D8B030D-6E8A-4147-A177-3AD203B41FA5}">
                      <a16:colId xmlns:a16="http://schemas.microsoft.com/office/drawing/2014/main" val="1622949929"/>
                    </a:ext>
                  </a:extLst>
                </a:gridCol>
                <a:gridCol w="2701806">
                  <a:extLst>
                    <a:ext uri="{9D8B030D-6E8A-4147-A177-3AD203B41FA5}">
                      <a16:colId xmlns:a16="http://schemas.microsoft.com/office/drawing/2014/main" val="2574846183"/>
                    </a:ext>
                  </a:extLst>
                </a:gridCol>
                <a:gridCol w="2701806">
                  <a:extLst>
                    <a:ext uri="{9D8B030D-6E8A-4147-A177-3AD203B41FA5}">
                      <a16:colId xmlns:a16="http://schemas.microsoft.com/office/drawing/2014/main" val="4012903508"/>
                    </a:ext>
                  </a:extLst>
                </a:gridCol>
                <a:gridCol w="2701806">
                  <a:extLst>
                    <a:ext uri="{9D8B030D-6E8A-4147-A177-3AD203B41FA5}">
                      <a16:colId xmlns:a16="http://schemas.microsoft.com/office/drawing/2014/main" val="577768208"/>
                    </a:ext>
                  </a:extLst>
                </a:gridCol>
              </a:tblGrid>
              <a:tr h="517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Estimate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Std. Error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Z-value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Pr. (&gt;|z|)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505464"/>
                  </a:ext>
                </a:extLst>
              </a:tr>
              <a:tr h="517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(Intercept)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0.95014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0.09114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10.425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 2e-16***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808159"/>
                  </a:ext>
                </a:extLst>
              </a:tr>
              <a:tr h="517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이용시간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-0.07632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-0.0023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33.139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 2e-16***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896490"/>
                  </a:ext>
                </a:extLst>
              </a:tr>
              <a:tr h="517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주중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2000" b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주말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-0.25557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0.10452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-2.445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0.0145*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621350"/>
                  </a:ext>
                </a:extLst>
              </a:tr>
              <a:tr h="517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첨두시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2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비첨두시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-0.94701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0.141797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-6.679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2.41e-11***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779340"/>
                  </a:ext>
                </a:extLst>
              </a:tr>
              <a:tr h="517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지하철역까지 거리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0.004051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0.000198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20.417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 2e-16***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729787"/>
                  </a:ext>
                </a:extLst>
              </a:tr>
              <a:tr h="51723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Odds</a:t>
                      </a:r>
                      <a:r>
                        <a:rPr lang="en-US" altLang="ko-KR" sz="2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 Ratio(OR)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7350"/>
                  </a:ext>
                </a:extLst>
              </a:tr>
              <a:tr h="517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(Intercept)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이용시간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분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주중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(1)/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주말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(0)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첨두시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(1)/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비첨두시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(0)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지하철역까지 거리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 Semilight" panose="020B0502040204020203" pitchFamily="50" charset="-127"/>
                        </a:rPr>
                        <a:t>(m)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363842"/>
                  </a:ext>
                </a:extLst>
              </a:tr>
              <a:tr h="51723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2.5860705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0.9265154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0.7744748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0.3879004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1.0040593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052418"/>
                  </a:ext>
                </a:extLst>
              </a:tr>
            </a:tbl>
          </a:graphicData>
        </a:graphic>
      </p:graphicFrame>
      <p:graphicFrame>
        <p:nvGraphicFramePr>
          <p:cNvPr id="136" name="표 135">
            <a:extLst>
              <a:ext uri="{FF2B5EF4-FFF2-40B4-BE49-F238E27FC236}">
                <a16:creationId xmlns:a16="http://schemas.microsoft.com/office/drawing/2014/main" id="{05BDB325-6F40-4B67-A563-FD9220580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67875"/>
              </p:ext>
            </p:extLst>
          </p:nvPr>
        </p:nvGraphicFramePr>
        <p:xfrm>
          <a:off x="15880962" y="10218541"/>
          <a:ext cx="7976739" cy="59368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6488">
                  <a:extLst>
                    <a:ext uri="{9D8B030D-6E8A-4147-A177-3AD203B41FA5}">
                      <a16:colId xmlns:a16="http://schemas.microsoft.com/office/drawing/2014/main" val="629181783"/>
                    </a:ext>
                  </a:extLst>
                </a:gridCol>
                <a:gridCol w="1057734">
                  <a:extLst>
                    <a:ext uri="{9D8B030D-6E8A-4147-A177-3AD203B41FA5}">
                      <a16:colId xmlns:a16="http://schemas.microsoft.com/office/drawing/2014/main" val="1125569950"/>
                    </a:ext>
                  </a:extLst>
                </a:gridCol>
                <a:gridCol w="1088020">
                  <a:extLst>
                    <a:ext uri="{9D8B030D-6E8A-4147-A177-3AD203B41FA5}">
                      <a16:colId xmlns:a16="http://schemas.microsoft.com/office/drawing/2014/main" val="1648206678"/>
                    </a:ext>
                  </a:extLst>
                </a:gridCol>
                <a:gridCol w="2627454">
                  <a:extLst>
                    <a:ext uri="{9D8B030D-6E8A-4147-A177-3AD203B41FA5}">
                      <a16:colId xmlns:a16="http://schemas.microsoft.com/office/drawing/2014/main" val="1496051572"/>
                    </a:ext>
                  </a:extLst>
                </a:gridCol>
                <a:gridCol w="2607043">
                  <a:extLst>
                    <a:ext uri="{9D8B030D-6E8A-4147-A177-3AD203B41FA5}">
                      <a16:colId xmlns:a16="http://schemas.microsoft.com/office/drawing/2014/main" val="1288151943"/>
                    </a:ext>
                  </a:extLst>
                </a:gridCol>
              </a:tblGrid>
              <a:tr h="2958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평균</a:t>
                      </a:r>
                      <a:r>
                        <a:rPr lang="en-US" altLang="ko-KR" sz="2000" u="none" strike="noStrike" dirty="0">
                          <a:effectLst/>
                        </a:rPr>
                        <a:t>(min)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평균</a:t>
                      </a:r>
                      <a:r>
                        <a:rPr lang="en-US" altLang="ko-KR" sz="2000" u="none" strike="noStrike" dirty="0">
                          <a:effectLst/>
                        </a:rPr>
                        <a:t>(m)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DEP_ZONE_NAME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ARR_ZONE_NAME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82363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9568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67.88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7570.25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여의나루역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 여의나루역 </a:t>
                      </a:r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번출구 앞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834960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7174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59.41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6727.10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뚝섬유원지역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뚝섬유원지역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265903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3313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58.37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6996.95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마포구민체육센터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 마포구민체육센터 앞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803792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3235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77.09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7503.95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고터역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고터역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381156"/>
                  </a:ext>
                </a:extLst>
              </a:tr>
              <a:tr h="1584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3151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60.35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5524.99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월드컵공원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월드컵공원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47523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3078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8.58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1634.22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하늘채코오롱아파트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홍대입구역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882905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3014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61.57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10041.10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봉림교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교통섬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 봉림교 교통섬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865221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2884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60.10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4704.99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서울숲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관리사무소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서울숲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관리사무소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470480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2565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53.40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8652.50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옥수역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옥수역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134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2535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63.72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5492.29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서울숲역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번 출구 옆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서울숲역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번 출구 옆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1761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2365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12.96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2038.71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홍대입구역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하늘채코오롱아파트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335818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2249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64.06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10184.65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노들역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노들역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817148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2249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10.75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1336.19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건국대학교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입학정보관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건국대학교 학생회관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026635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2142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64.87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9827.88 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  <a:latin typeface="+mn-ea"/>
                          <a:ea typeface="+mn-ea"/>
                        </a:rPr>
                        <a:t> CJ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드림시티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  <a:latin typeface="+mn-ea"/>
                          <a:ea typeface="+mn-ea"/>
                        </a:rPr>
                        <a:t> CJ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드림시티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681326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2122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61.02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8114.24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당산육갑문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당산육갑문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69377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1987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7.14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1575.65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장승배기역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노량진역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94248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1906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8.26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1832.53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자양나들목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뚝섬유원지역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84800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1882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50.73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8203.96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>
                          <a:effectLst/>
                          <a:latin typeface="+mn-ea"/>
                          <a:ea typeface="+mn-ea"/>
                        </a:rPr>
                        <a:t> 청계천 생태교실 앞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청계천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생태교실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앞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745781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>
                          <a:effectLst/>
                          <a:latin typeface="+mn-ea"/>
                          <a:ea typeface="+mn-ea"/>
                        </a:rPr>
                        <a:t>1854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69.83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10641.43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흑석역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흑석역</a:t>
                      </a:r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번출구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99060"/>
                  </a:ext>
                </a:extLst>
              </a:tr>
              <a:tr h="17857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1848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11.71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1962.78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 건국대학교 학생회관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800" u="none" strike="noStrike" dirty="0">
                          <a:effectLst/>
                          <a:latin typeface="+mn-ea"/>
                          <a:ea typeface="+mn-ea"/>
                        </a:rPr>
                        <a:t>건국대학교 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800" u="none" strike="noStrike" dirty="0" err="1">
                          <a:effectLst/>
                          <a:latin typeface="+mn-ea"/>
                          <a:ea typeface="+mn-ea"/>
                        </a:rPr>
                        <a:t>입학정보관</a:t>
                      </a:r>
                      <a:r>
                        <a:rPr lang="en-US" altLang="ko-KR" sz="18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938" marR="6938" marT="693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27268"/>
                  </a:ext>
                </a:extLst>
              </a:tr>
            </a:tbl>
          </a:graphicData>
        </a:graphic>
      </p:graphicFrame>
      <p:pic>
        <p:nvPicPr>
          <p:cNvPr id="137" name="그림 136">
            <a:extLst>
              <a:ext uri="{FF2B5EF4-FFF2-40B4-BE49-F238E27FC236}">
                <a16:creationId xmlns:a16="http://schemas.microsoft.com/office/drawing/2014/main" id="{73318296-1A10-4C5B-962C-4ABF93EA8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57701" y="13777764"/>
            <a:ext cx="5786187" cy="2443056"/>
          </a:xfrm>
          <a:prstGeom prst="rect">
            <a:avLst/>
          </a:prstGeom>
        </p:spPr>
      </p:pic>
      <p:pic>
        <p:nvPicPr>
          <p:cNvPr id="138" name="그림 137">
            <a:extLst>
              <a:ext uri="{FF2B5EF4-FFF2-40B4-BE49-F238E27FC236}">
                <a16:creationId xmlns:a16="http://schemas.microsoft.com/office/drawing/2014/main" id="{020137A6-961E-4F7F-A0A8-E535C39748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57702" y="10742041"/>
            <a:ext cx="5786186" cy="2443056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50B95E92-9968-4286-83AD-4AE9D2334F31}"/>
              </a:ext>
            </a:extLst>
          </p:cNvPr>
          <p:cNvSpPr txBox="1"/>
          <p:nvPr/>
        </p:nvSpPr>
        <p:spPr>
          <a:xfrm>
            <a:off x="24086480" y="13252199"/>
            <a:ext cx="1815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One-way trip</a:t>
            </a:r>
            <a:endParaRPr lang="ko-KR" altLang="en-US" sz="2000" b="1" dirty="0">
              <a:solidFill>
                <a:srgbClr val="C0000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6C58248-1A8A-451B-9801-BB9C2E41C151}"/>
              </a:ext>
            </a:extLst>
          </p:cNvPr>
          <p:cNvSpPr txBox="1"/>
          <p:nvPr/>
        </p:nvSpPr>
        <p:spPr>
          <a:xfrm>
            <a:off x="24086480" y="10237841"/>
            <a:ext cx="163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Round trip</a:t>
            </a:r>
            <a:endParaRPr lang="ko-KR" altLang="en-US" sz="2000" b="1" dirty="0">
              <a:solidFill>
                <a:srgbClr val="C0000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9371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spcFirstLastPara="0" vert="horz" wrap="square" lIns="13336" tIns="728099" rIns="13335" bIns="728097" numCol="1" spcCol="1270" anchor="ctr" anchorCtr="0">
        <a:noAutofit/>
      </a:bodyPr>
      <a:lstStyle>
        <a:defPPr algn="ctr" defTabSz="933450" latinLnBrk="1">
          <a:lnSpc>
            <a:spcPct val="90000"/>
          </a:lnSpc>
          <a:spcBef>
            <a:spcPct val="0"/>
          </a:spcBef>
          <a:spcAft>
            <a:spcPct val="35000"/>
          </a:spcAft>
          <a:defRPr sz="3000" kern="1200" dirty="0" smtClean="0">
            <a:solidFill>
              <a:schemeClr val="tx1"/>
            </a:solidFill>
            <a:latin typeface="Yu Gothic UI Semibold" panose="020B0700000000000000" pitchFamily="34" charset="-128"/>
            <a:ea typeface="Yu Gothic UI Semibold" panose="020B0700000000000000" pitchFamily="34" charset="-128"/>
          </a:defRPr>
        </a:defPPr>
      </a:lstStyle>
      <a:style>
        <a:lnRef idx="2">
          <a:schemeClr val="accent1">
            <a:shade val="50000"/>
            <a:hueOff val="0"/>
            <a:satOff val="0"/>
            <a:lumOff val="0"/>
            <a:alphaOff val="0"/>
          </a:schemeClr>
        </a:lnRef>
        <a:fillRef idx="1">
          <a:schemeClr val="accent1">
            <a:shade val="50000"/>
            <a:hueOff val="0"/>
            <a:satOff val="0"/>
            <a:lumOff val="0"/>
            <a:alphaOff val="0"/>
          </a:schemeClr>
        </a:fillRef>
        <a:effectRef idx="0">
          <a:schemeClr val="accent1">
            <a:shade val="50000"/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13767</TotalTime>
  <Words>866</Words>
  <Application>Microsoft Office PowerPoint</Application>
  <PresentationFormat>사용자 지정</PresentationFormat>
  <Paragraphs>255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Meiryo</vt:lpstr>
      <vt:lpstr>맑은 고딕</vt:lpstr>
      <vt:lpstr>SpoqaHanSans-Bold</vt:lpstr>
      <vt:lpstr>맑은 고딕 Semilight</vt:lpstr>
      <vt:lpstr>함초롬돋움</vt:lpstr>
      <vt:lpstr>Calibri Light</vt:lpstr>
      <vt:lpstr>Arial</vt:lpstr>
      <vt:lpstr>SpoqaHanSans-Regular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Yeongbeom Kwon</dc:creator>
  <cp:lastModifiedBy>정종우</cp:lastModifiedBy>
  <cp:revision>348</cp:revision>
  <cp:lastPrinted>2018-07-24T07:27:26Z</cp:lastPrinted>
  <dcterms:created xsi:type="dcterms:W3CDTF">2018-04-03T13:50:48Z</dcterms:created>
  <dcterms:modified xsi:type="dcterms:W3CDTF">2019-09-25T05:47:15Z</dcterms:modified>
</cp:coreProperties>
</file>